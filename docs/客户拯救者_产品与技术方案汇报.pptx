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975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客户拯救者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679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LLM 投诉挽留智能体｜产品与技术实现汇报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246120"/>
            <a:ext cx="118872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一天可演示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57400" y="3246120"/>
            <a:ext cx="1207008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主链路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29000" y="3246120"/>
            <a:ext cx="192024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无独显笔记本可运行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输入投诉 → 自动理解诉求 → 匹配政策 → 生成话术 → 看板跟进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46085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面向一线客户经理/客服主管的投诉处理与客户保有辅助工具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58200" y="1051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🛟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9217152" y="17007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3977640"/>
            <a:ext cx="384048" cy="384048"/>
          </a:xfrm>
          <a:prstGeom prst="ellipse">
            <a:avLst/>
          </a:prstGeom>
          <a:solidFill>
            <a:srgbClr val="20C5D8"/>
          </a:solidFill>
          <a:ln>
            <a:solidFill>
              <a:srgbClr val="20C5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39328" y="3977640"/>
            <a:ext cx="23591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投诉类型/情绪/风险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4617720"/>
            <a:ext cx="384048" cy="384048"/>
          </a:xfrm>
          <a:prstGeom prst="ellipse">
            <a:avLst/>
          </a:prstGeom>
          <a:solidFill>
            <a:srgbClr val="20C5D8"/>
          </a:solidFill>
          <a:ln>
            <a:solidFill>
              <a:srgbClr val="20C5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9328" y="4617720"/>
            <a:ext cx="23591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政策候选 Top-K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5257800"/>
            <a:ext cx="384048" cy="384048"/>
          </a:xfrm>
          <a:prstGeom prst="ellipse">
            <a:avLst/>
          </a:prstGeom>
          <a:solidFill>
            <a:srgbClr val="20C5D8"/>
          </a:solidFill>
          <a:ln>
            <a:solidFill>
              <a:srgbClr val="20C5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5257800"/>
            <a:ext cx="23591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四段式挽留话术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49840" y="6172200"/>
            <a:ext cx="1325880" cy="320040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为什么做：客户投诉处理不是“话术问题”，而是“信息匹配问题”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短培训场景下选择小切口：一线投诉 → 政策匹配 → 个性化挽留。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pic>
        <p:nvPicPr>
          <p:cNvPr id="5" name="Image 0" descr="/mnt/data/e5a08ab2-cd85-42e5-b45a-e10dd72d29e3.png">    </p:cNvPr>
          <p:cNvPicPr>
            <a:picLocks noChangeAspect="1"/>
          </p:cNvPicPr>
          <p:nvPr/>
        </p:nvPicPr>
        <p:blipFill>
          <a:blip r:embed="rId1"/>
          <a:srcRect l="165" r="165" t="0" b="0"/>
          <a:stretch/>
        </p:blipFill>
        <p:spPr>
          <a:xfrm>
            <a:off x="685800" y="1508760"/>
            <a:ext cx="4343400" cy="2542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169664"/>
            <a:ext cx="91440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EEF6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4343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投诉秒变留人机会，政策套餐自动配对。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核心功能：多模态投诉理解、政策知识库匹配、个性化话术生成、管理看板。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150876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1｜政策多，记不全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套餐、返费、亲情网、宽带/FTTR、终端购机等政策分散，人工匹配慢。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5486400" y="1527048"/>
            <a:ext cx="54864" cy="1106424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50876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2｜投诉急，情绪重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一线人员需要先安抚，再给出可办理、可核验的方案。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8412480" y="1527048"/>
            <a:ext cx="54864" cy="1106424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907792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3｜新人难，经验少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同样的投诉，资深客户经理能想到政策，新人容易漏匹配。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54864" cy="110642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2907792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4｜主管难闭环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缺少客户级记录和风险排序，难以追踪高风险客户后续处理。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8412480" y="2926080"/>
            <a:ext cx="54864" cy="1106424"/>
          </a:xfrm>
          <a:prstGeom prst="rect">
            <a:avLst/>
          </a:prstGeom>
          <a:solidFill>
            <a:srgbClr val="00A867"/>
          </a:solidFill>
          <a:ln w="12700">
            <a:solidFill>
              <a:srgbClr val="00A8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4709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选题判断：小切口 / 真痛点 / 可落地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486400" y="517550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用一天做出可演示版本：不做“大平台”，只做“一线投诉处理 + 后台风险看板”的闭环。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产品定位：一线处理 + 主管看板的闭环智能体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不是替代人工，而是把“理解投诉、匹配政策、生成话术、跟进高风险客户”标准化。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3154680"/>
            <a:ext cx="1097280" cy="0"/>
          </a:xfrm>
          <a:prstGeom prst="line">
            <a:avLst/>
          </a:prstGeom>
          <a:noFill/>
          <a:ln w="20320">
            <a:solidFill>
              <a:srgbClr val="7CAE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17720" y="3154680"/>
            <a:ext cx="1097280" cy="0"/>
          </a:xfrm>
          <a:prstGeom prst="line">
            <a:avLst/>
          </a:prstGeom>
          <a:noFill/>
          <a:ln w="20320">
            <a:solidFill>
              <a:srgbClr val="7CAE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03720" y="3154680"/>
            <a:ext cx="1097280" cy="0"/>
          </a:xfrm>
          <a:prstGeom prst="line">
            <a:avLst/>
          </a:prstGeom>
          <a:noFill/>
          <a:ln w="20320">
            <a:solidFill>
              <a:srgbClr val="7CAE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89720" y="3154680"/>
            <a:ext cx="1005840" cy="0"/>
          </a:xfrm>
          <a:prstGeom prst="line">
            <a:avLst/>
          </a:prstGeom>
          <a:noFill/>
          <a:ln w="20320">
            <a:solidFill>
              <a:srgbClr val="7CAEF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58368" y="2057400"/>
            <a:ext cx="1874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语义复杂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离网风险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80360" y="2057400"/>
            <a:ext cx="1874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诉求理解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1874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政策匹配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张政策卡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候选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资格提醒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057400"/>
            <a:ext cx="1874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话术生成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安抚开场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方案介绍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风险说明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0" y="2057400"/>
            <a:ext cx="1874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后台闭环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手机号记录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风险排序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导出跟进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74520" y="4709160"/>
            <a:ext cx="146304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一线客户经理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4709160"/>
            <a:ext cx="114300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客服坐席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4709160"/>
            <a:ext cx="146304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投诉处理专员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132588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营业厅主管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36992" y="4709160"/>
            <a:ext cx="109728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渠道经理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504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一句话价值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31720" y="5468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把客户投诉从“临场经验题”变成“可复用、可追踪、可复盘”的处理流程。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技术架构：轻量本地编排 + 云端 LLM 主链路 + 模板兜底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无独显笔记本可跑：Streamlit 页面、本地 JSON 政策库、OpenAI-compatible 云端模型。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834640"/>
            <a:ext cx="77724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63440" y="2834640"/>
            <a:ext cx="82296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23760" y="2834640"/>
            <a:ext cx="82296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84080" y="2834640"/>
            <a:ext cx="77724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19088" y="4160520"/>
            <a:ext cx="0" cy="685800"/>
          </a:xfrm>
          <a:prstGeom prst="line">
            <a:avLst/>
          </a:prstGeom>
          <a:noFill/>
          <a:ln w="1778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1965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UI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投诉录入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结果展示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874520"/>
            <a:ext cx="1965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ClientSaviorAgent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统一编排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模式记录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1965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本地政策召回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matcher.py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+ 画像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候选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1874520"/>
            <a:ext cx="1965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llm_client.py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/ DashScope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结构化输出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46920" y="1874520"/>
            <a:ext cx="1965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结果落地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推荐政策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挽留话术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风险看板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5074920"/>
            <a:ext cx="2331720" cy="86868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C27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本地模板兜底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templates.py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模型失败/超时仍可生成可演示结果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4251960"/>
            <a:ext cx="1417320" cy="310896"/>
          </a:xfrm>
          <a:prstGeom prst="roundRect">
            <a:avLst/>
          </a:prstGeom>
          <a:solidFill>
            <a:srgbClr val="EBF9F1"/>
          </a:solidFill>
          <a:ln>
            <a:solidFill>
              <a:srgbClr val="EBF9F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是主链路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03320" y="4251960"/>
            <a:ext cx="187452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EEF6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本地只做召回与兜底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09560" y="4251960"/>
            <a:ext cx="1508760" cy="310896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不跑本地大模型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0" y="4251960"/>
            <a:ext cx="123444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不依赖独显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核心流程：把投诉文本转成“可执行方案”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输入手机号和投诉内容后，手机号只进入本地看板；LLM 只处理投诉与画像，不接收完整手机号。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4612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3796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8388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29800" y="2816352"/>
            <a:ext cx="731520" cy="0"/>
          </a:xfrm>
          <a:prstGeom prst="line">
            <a:avLst/>
          </a:prstGeom>
          <a:noFill/>
          <a:ln w="2032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143000" cy="1234440"/>
          </a:xfrm>
          <a:prstGeom prst="roundRect">
            <a:avLst/>
          </a:prstGeom>
          <a:solidFill>
            <a:srgbClr val="0B2F6B"/>
          </a:solidFill>
          <a:ln w="12700">
            <a:solidFill>
              <a:srgbClr val="0B2F6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2240280"/>
            <a:ext cx="1143000" cy="123444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1143000" cy="1234440"/>
          </a:xfrm>
          <a:prstGeom prst="roundRect">
            <a:avLst/>
          </a:prstGeom>
          <a:solidFill>
            <a:srgbClr val="20C5D8"/>
          </a:solidFill>
          <a:ln w="12700">
            <a:solidFill>
              <a:srgbClr val="20C5D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1143000" cy="1234440"/>
          </a:xfrm>
          <a:prstGeom prst="roundRect">
            <a:avLst/>
          </a:prstGeom>
          <a:solidFill>
            <a:srgbClr val="00A867"/>
          </a:solidFill>
          <a:ln w="12700">
            <a:solidFill>
              <a:srgbClr val="00A86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1143000" cy="1234440"/>
          </a:xfrm>
          <a:prstGeom prst="roundRect">
            <a:avLst/>
          </a:prstGeom>
          <a:solidFill>
            <a:srgbClr val="FF9F1C"/>
          </a:solidFill>
          <a:ln w="1270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2240280"/>
            <a:ext cx="1143000" cy="1234440"/>
          </a:xfrm>
          <a:prstGeom prst="roundRect">
            <a:avLst/>
          </a:prstGeom>
          <a:solidFill>
            <a:srgbClr val="725DFF"/>
          </a:solidFill>
          <a:ln w="12700">
            <a:solidFill>
              <a:srgbClr val="725D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38360" y="2240280"/>
            <a:ext cx="1143000" cy="1234440"/>
          </a:xfrm>
          <a:prstGeom prst="roundRect">
            <a:avLst/>
          </a:prstGeom>
          <a:solidFill>
            <a:srgbClr val="E23B3B"/>
          </a:solidFill>
          <a:ln w="12700">
            <a:solidFill>
              <a:srgbClr val="E23B3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手机号/投诉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5720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输入投诉原文，手机号用于本地记录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98424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96596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月租、网龄、宽带、换机、携转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349300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本地召回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47472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按关键词与画像召回政策 Top-K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0176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LLM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98348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输出客户分析、政策推荐、话术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51052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结果合并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49224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policy_id，缺失项本地补齐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01928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前台执行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00100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四段式话术 + 办理提醒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9528048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后台看板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509760" y="4087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风险排序、导出、跟进闭环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1005840" y="5230368"/>
            <a:ext cx="10149840" cy="50292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D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隐私设计：完整手机号默认不进入 LLM Prompt；页面和 CSV 默认展示脱敏号码（如 138****8000）。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前台页面：一键填案例，3~5 秒生成可执行话术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演示时重点展示：客户投诉输入、画像开关、云端模型生成、推荐政策 Top 3、四段式话术。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44752"/>
            <a:ext cx="4800600" cy="347472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DE2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客户输入区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5087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套餐太贵想携转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31720" y="1965960"/>
            <a:ext cx="15087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流量不够刷视频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77640" y="1965960"/>
            <a:ext cx="11430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 WiFi 差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0116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客户手机号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138****8000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880360" y="2514600"/>
            <a:ext cx="2240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客户类型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 / 家庭用户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4434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投诉内容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我这个套餐越来越贵，别人新用户比我便宜多了，不行我就携号转网了。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85800" y="4526280"/>
            <a:ext cx="100584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EEF6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已有宽带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4526280"/>
            <a:ext cx="1005840" cy="310896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明确携转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71800" y="4526280"/>
            <a:ext cx="1417320" cy="310896"/>
          </a:xfrm>
          <a:prstGeom prst="roundRect">
            <a:avLst/>
          </a:prstGeom>
          <a:solidFill>
            <a:srgbClr val="EBF9F1"/>
          </a:solidFill>
          <a:ln>
            <a:solidFill>
              <a:srgbClr val="EBF9F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启用云端模型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5166360"/>
            <a:ext cx="4434840" cy="457200"/>
          </a:xfrm>
          <a:prstGeom prst="round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生成挽留方案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444752"/>
            <a:ext cx="5623560" cy="347472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DE2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生成结果区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1965960"/>
            <a:ext cx="1325880" cy="310896"/>
          </a:xfrm>
          <a:prstGeom prst="roundRect">
            <a:avLst/>
          </a:prstGeom>
          <a:solidFill>
            <a:srgbClr val="EBF9F1"/>
          </a:solidFill>
          <a:ln>
            <a:solidFill>
              <a:srgbClr val="EBF9F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云端模型生成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0" y="1965960"/>
            <a:ext cx="1143000" cy="310896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1965960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3.2s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251460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客户分析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投诉类型：离网风险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客户情绪：不满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关键诉求：降低月租、老客户公平感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9640" y="2514600"/>
            <a:ext cx="2651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推荐政策 Top 1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1000元充送无忧包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适合网龄较长且有携转风险的高价值客户。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89320" y="4114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四段式话术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安抚：先认可老客户感受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方案：解释可核查优惠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风险：资格以系统为准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下一步：先查号码标签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9098280" y="5650992"/>
            <a:ext cx="2057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BFD7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Markdown 方案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后台看板：按风险等级排序，优先跟进高风险客户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新增目标功能：记录脱敏手机号、投诉类型、风险等级、推荐政策和处理状态，形成客户风险队列。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已处理投诉数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317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317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高风险客户数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33.3%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319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高风险占比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321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321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云端模型生成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本地兜底次数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325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5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3252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28700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287000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待优先跟进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高风险客户优先跟进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273552"/>
            <a:ext cx="82296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508760" y="3273552"/>
            <a:ext cx="9144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投诉类型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2423160" y="3273552"/>
            <a:ext cx="594360" cy="338328"/>
          </a:xfrm>
          <a:prstGeom prst="rect">
            <a:avLst/>
          </a:prstGeom>
          <a:solidFill>
            <a:srgbClr val="EBF9F1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3017520" y="3273552"/>
            <a:ext cx="713232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3730752" y="3273552"/>
            <a:ext cx="123444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关键诉求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4965192" y="3273552"/>
            <a:ext cx="13258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推荐政策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291072" y="3273552"/>
            <a:ext cx="11430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处理状态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85800" y="3657600"/>
            <a:ext cx="82296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138****8000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1508760" y="3657600"/>
            <a:ext cx="9144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离网风险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2423160" y="3657600"/>
            <a:ext cx="594360" cy="338328"/>
          </a:xfrm>
          <a:prstGeom prst="rect">
            <a:avLst/>
          </a:prstGeom>
          <a:solidFill>
            <a:srgbClr val="FFF0F0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3017520" y="3657600"/>
            <a:ext cx="713232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3730752" y="3657600"/>
            <a:ext cx="123444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降费/保有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965192" y="3657600"/>
            <a:ext cx="13258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1000元无忧包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291072" y="3657600"/>
            <a:ext cx="11430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待优先跟进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85800" y="4078224"/>
            <a:ext cx="82296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139****6688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1508760" y="4078224"/>
            <a:ext cx="9144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换机需求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2423160" y="4078224"/>
            <a:ext cx="594360" cy="338328"/>
          </a:xfrm>
          <a:prstGeom prst="rect">
            <a:avLst/>
          </a:prstGeom>
          <a:solidFill>
            <a:srgbClr val="FFF0F0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3017520" y="4078224"/>
            <a:ext cx="713232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30752" y="4078224"/>
            <a:ext cx="123444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购机优惠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965192" y="4078224"/>
            <a:ext cx="13258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终端预存方案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6291072" y="4078224"/>
            <a:ext cx="11430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待优先跟进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685800" y="4498848"/>
            <a:ext cx="82296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137****3366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1508760" y="4498848"/>
            <a:ext cx="9144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宽带质量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2423160" y="4498848"/>
            <a:ext cx="594360" cy="338328"/>
          </a:xfrm>
          <a:prstGeom prst="rect">
            <a:avLst/>
          </a:prstGeom>
          <a:solidFill>
            <a:srgbClr val="FFF6E8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3017520" y="4498848"/>
            <a:ext cx="713232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30752" y="4498848"/>
            <a:ext cx="123444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WiFi覆盖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965192" y="4498848"/>
            <a:ext cx="13258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FTTR方案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6291072" y="4498848"/>
            <a:ext cx="11430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待跟进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685800" y="4919472"/>
            <a:ext cx="82296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136****2288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1508760" y="4919472"/>
            <a:ext cx="9144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流量不足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2423160" y="4919472"/>
            <a:ext cx="594360" cy="338328"/>
          </a:xfrm>
          <a:prstGeom prst="rect">
            <a:avLst/>
          </a:prstGeom>
          <a:solidFill>
            <a:srgbClr val="EBF9F1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3017520" y="4919472"/>
            <a:ext cx="713232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3730752" y="4919472"/>
            <a:ext cx="123444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大流量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4965192" y="4919472"/>
            <a:ext cx="13258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59元畅玩卡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6291072" y="4919472"/>
            <a:ext cx="114300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已生成方案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8823960" y="315468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8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看板增强点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手机号脱敏展示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风险等级降序排序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投诉类型 / 手机号后四位筛选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CSV 导出客户风险队列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清空本次演示记录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14400" y="5806440"/>
            <a:ext cx="10241280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D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隐私边界：手机号仅用于本地演示看板记录；不传给 LLM，不导出完整号码。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数据基础：12 张政策卡 + 6 条演示案例，覆盖高频投诉场景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政策卡字段包括 id、名称、价格、目标客户、关键词、权益、办理条件、风险提醒和话术提示。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政策卡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C5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48840" y="1892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政策类别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1892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本地候选召回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政策覆盖分布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大流量卡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920240" y="3264408"/>
            <a:ext cx="768096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4056" y="3227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3630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高套保有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920240" y="3648456"/>
            <a:ext cx="768096" cy="128016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4056" y="36118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4014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家庭融合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920240" y="4032504"/>
            <a:ext cx="384048" cy="128016"/>
          </a:xfrm>
          <a:prstGeom prst="rect">
            <a:avLst/>
          </a:prstGeom>
          <a:solidFill>
            <a:srgbClr val="00A867"/>
          </a:solidFill>
          <a:ln w="12700">
            <a:solidFill>
              <a:srgbClr val="00A8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0008" y="39959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43982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宽带组网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1920240" y="4416552"/>
            <a:ext cx="384048" cy="128016"/>
          </a:xfrm>
          <a:prstGeom prst="rect">
            <a:avLst/>
          </a:prstGeom>
          <a:solidFill>
            <a:srgbClr val="20C5D8"/>
          </a:solidFill>
          <a:ln w="12700">
            <a:solidFill>
              <a:srgbClr val="20C5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0008" y="43799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4782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终端换机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920240" y="4800600"/>
            <a:ext cx="384048" cy="12801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0008" y="47640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商客融合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1920240" y="5184648"/>
            <a:ext cx="384048" cy="128016"/>
          </a:xfrm>
          <a:prstGeom prst="rect">
            <a:avLst/>
          </a:prstGeom>
          <a:solidFill>
            <a:srgbClr val="725DFF"/>
          </a:solidFill>
          <a:ln w="12700">
            <a:solidFill>
              <a:srgbClr val="725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5148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9476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代表政策卡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94760" y="3182112"/>
            <a:ext cx="3246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P01｜39元新潮玩乐享卡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170G 通用 + 30G 定向 + 100 分钟，适合低价大流量诉求。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3794760" y="3200400"/>
            <a:ext cx="54864" cy="67665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4050792"/>
            <a:ext cx="3246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P04｜1000元充送无忧包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199+、网龄 5 年以上、高危客户保有，赠费分期返还。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3794760" y="4069080"/>
            <a:ext cx="54864" cy="676656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919472"/>
            <a:ext cx="3246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P09｜129+宽带/FTTR方案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围绕家庭宽带、千兆提速和 WiFi 覆盖优化。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3794760" y="4937760"/>
            <a:ext cx="54864" cy="676656"/>
          </a:xfrm>
          <a:prstGeom prst="rect">
            <a:avLst/>
          </a:prstGeom>
          <a:solidFill>
            <a:srgbClr val="00A867"/>
          </a:solidFill>
          <a:ln w="12700">
            <a:solidFill>
              <a:srgbClr val="00A8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99248" y="3182112"/>
            <a:ext cx="1600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套餐太贵想携转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99248" y="3593592"/>
            <a:ext cx="1600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流量不够刷视频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699248" y="4005072"/>
            <a:ext cx="1600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宽带/WiFi网速差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99248" y="4416552"/>
            <a:ext cx="1600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想换手机但觉得贵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99248" y="4828032"/>
            <a:ext cx="1600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家庭号码多想省钱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99248" y="5239512"/>
            <a:ext cx="21488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商户需要宽带和宣传触达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性能策略：云端快模型为主，Ollama 只做备用选项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目标是现场点击后 3~5 秒可见结果；异常时快速切换兜底，避免一两分钟无响应。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27080" cy="0"/>
          </a:xfrm>
          <a:prstGeom prst="line">
            <a:avLst/>
          </a:prstGeom>
          <a:noFill/>
          <a:ln w="12700">
            <a:solidFill>
              <a:srgbClr val="D7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108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主链路：云端 Qwen / DashScope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qwen-flash / qwen-turbo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OpenAI-compatible API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response_format JSON 优先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失败自动重试为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1554480"/>
            <a:ext cx="3017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提速参数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LLM_TIMEOUT = 4s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LLM_MAX_TOKENS = 450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LLM_CANDIDATE_TOP_K =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LLM_MAX_RETRIES =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43800" y="1554480"/>
            <a:ext cx="3108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DF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兜底链路：本地模板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 API Key 也能跑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超时后继续出方案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保证现场演示不断链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标记“本地模板兜底”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 Ollama？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590288"/>
            <a:ext cx="3291840" cy="713232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C27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不建议作为默认主链路：无独显 CPU 上本地模型启动慢、中文业务话术质量不稳定。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4590288"/>
            <a:ext cx="3337560" cy="71323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DE2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建议作为 B 计划：网络不可用时可临时切到 http://localhost:11434/v1，展示“本地 LLM 可用”。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09560" y="4590288"/>
            <a:ext cx="3337560" cy="713232"/>
          </a:xfrm>
          <a:prstGeom prst="roundRect">
            <a:avLst/>
          </a:prstGeom>
          <a:solidFill>
            <a:srgbClr val="EBF9F1"/>
          </a:solidFill>
          <a:ln w="12700">
            <a:solidFill>
              <a:srgbClr val="BEE8C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演示优先级：速度 &gt; 长篇输出；结构化 JSON &gt; 自由文本；兜底可用 &gt; 完美生成。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5623560"/>
            <a:ext cx="9875520" cy="658368"/>
          </a:xfrm>
          <a:prstGeom prst="roundRect">
            <a:avLst/>
          </a:prstGeom>
          <a:solidFill>
            <a:srgbClr val="0D1B2A"/>
          </a:solidFill>
          <a:ln>
            <a:solidFill>
              <a:srgbClr val="1B3A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.env：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LLM_MODEL=qwen-flash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LLM_TIMEOUT=4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LLM_MAX_TOKENS=450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LLM_MAX_RETRIES=0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LLM_CANDIDATE_TOP_K=3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537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Client Savior｜客户拯救者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演示脚本与交付清单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0789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5 分钟讲清：为什么做、怎么跑、AI 如何产出、看板如何闭环。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3182112"/>
            <a:ext cx="685800" cy="0"/>
          </a:xfrm>
          <a:prstGeom prst="line">
            <a:avLst/>
          </a:prstGeom>
          <a:noFill/>
          <a:ln w="20320">
            <a:solidFill>
              <a:srgbClr val="8FC4F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03320" y="3182112"/>
            <a:ext cx="685800" cy="0"/>
          </a:xfrm>
          <a:prstGeom prst="line">
            <a:avLst/>
          </a:prstGeom>
          <a:noFill/>
          <a:ln w="20320">
            <a:solidFill>
              <a:srgbClr val="8FC4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3182112"/>
            <a:ext cx="685800" cy="0"/>
          </a:xfrm>
          <a:prstGeom prst="line">
            <a:avLst/>
          </a:prstGeom>
          <a:noFill/>
          <a:ln w="20320">
            <a:solidFill>
              <a:srgbClr val="8FC4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52360" y="3182112"/>
            <a:ext cx="685800" cy="0"/>
          </a:xfrm>
          <a:prstGeom prst="line">
            <a:avLst/>
          </a:prstGeom>
          <a:noFill/>
          <a:ln w="20320">
            <a:solidFill>
              <a:srgbClr val="8FC4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1508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选案例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套餐太贵想携转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2423160"/>
            <a:ext cx="1508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生成方案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展示云端模型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09160" y="2423160"/>
            <a:ext cx="1508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读话术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解释政策原因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2423160"/>
            <a:ext cx="1508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看后台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高风险排序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32520" y="2423160"/>
            <a:ext cx="1508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导出记录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形成跟进闭环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交付清单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4572000"/>
            <a:ext cx="164592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Web Demo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123444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张政策卡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4572000"/>
            <a:ext cx="132588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条演示案例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0" y="4572000"/>
            <a:ext cx="150876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+ 兜底链路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35440" y="4572000"/>
            <a:ext cx="1417320" cy="310896"/>
          </a:xfrm>
          <a:prstGeom prst="roundRect">
            <a:avLst/>
          </a:prstGeom>
          <a:solidFill>
            <a:srgbClr val="1B66D1"/>
          </a:solidFill>
          <a:ln>
            <a:solidFill>
              <a:srgbClr val="1B66D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后台风险看板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DE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下一步可扩展：语音输入、真实工单系统对接、办理资格实时校验、客户历史画像、跟进状态持久化。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0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Client Savior｜客户拯救者</dc:title>
  <dc:subject>The Client Savior 客户拯救者 - 产品与技术方案</dc:subject>
  <dc:creator>OpenAI</dc:creator>
  <cp:lastModifiedBy>OpenAI</cp:lastModifiedBy>
  <cp:revision>1</cp:revision>
  <dcterms:created xsi:type="dcterms:W3CDTF">2026-05-15T11:43:42Z</dcterms:created>
  <dcterms:modified xsi:type="dcterms:W3CDTF">2026-05-15T11:43:42Z</dcterms:modified>
</cp:coreProperties>
</file>